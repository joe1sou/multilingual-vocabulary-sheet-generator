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10287000" cy="18288000"/>
  <p:embeddedFontLs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ato-regular.fntdata"/><Relationship Id="rId14" Type="http://schemas.openxmlformats.org/officeDocument/2006/relationships/slide" Target="slides/slide10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La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4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52500" y="952500"/>
            <a:ext cx="16383000" cy="8382000"/>
          </a:xfrm>
          <a:prstGeom prst="roundRect">
            <a:avLst>
              <a:gd fmla="val 4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562100" y="4152900"/>
            <a:ext cx="15163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1A472A"/>
              </a:buClr>
              <a:buSzPts val="6600"/>
              <a:buFont typeface="Lato"/>
              <a:buNone/>
            </a:pPr>
            <a:r>
              <a:rPr b="1" i="0" lang="en-US" sz="6600" u="none" cap="none" strike="noStrike">
                <a:solidFill>
                  <a:srgbClr val="1A472A"/>
                </a:solidFill>
                <a:latin typeface="Lato"/>
                <a:ea typeface="Lato"/>
                <a:cs typeface="Lato"/>
                <a:sym typeface="Lato"/>
              </a:rPr>
              <a:t>Story Problems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562100" y="5619750"/>
            <a:ext cx="1516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3150"/>
              <a:buFont typeface="Lato"/>
              <a:buNone/>
            </a:pPr>
            <a:r>
              <a:rPr b="1" i="0" lang="en-US" sz="3150" u="none" cap="none" strike="noStrike">
                <a:solidFill>
                  <a:srgbClr val="FFD700"/>
                </a:solidFill>
                <a:latin typeface="Lato"/>
                <a:ea typeface="Lato"/>
                <a:cs typeface="Lato"/>
                <a:sym typeface="Lato"/>
              </a:rPr>
              <a:t>Let's Make Sense of What's Happening 🏆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952500" y="952500"/>
            <a:ext cx="1638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1A472A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1A472A"/>
                </a:solidFill>
                <a:latin typeface="Lato"/>
                <a:ea typeface="Lato"/>
                <a:cs typeface="Lato"/>
                <a:sym typeface="Lato"/>
              </a:rPr>
              <a:t>What is a Story Problem?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52500" y="21907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 story problem is math that tells a </a:t>
            </a: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story with numbers</a:t>
            </a: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524000" y="2990850"/>
            <a:ext cx="158115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It describes something that is happening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It gives us numbers to work with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It asks us a question to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CE8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952500" y="952500"/>
            <a:ext cx="1638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D97706"/>
                </a:solidFill>
                <a:latin typeface="Lato"/>
                <a:ea typeface="Lato"/>
                <a:cs typeface="Lato"/>
                <a:sym typeface="Lato"/>
              </a:rPr>
              <a:t>Let's Listen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952500" y="21907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 soccer team has 7 players on the field.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952500" y="29908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Then 2 more players come onto the field.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952500" y="37909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How many players are on the field now?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952500" y="952500"/>
            <a:ext cx="1638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What Happened?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952500" y="21907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Turn to a partner and tell them: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524000" y="2990850"/>
            <a:ext cx="158115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First, what did we start with?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Then, what happened?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Now, what is the question asking?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2F8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952500" y="952500"/>
            <a:ext cx="1638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BE123C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Show What Happened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952500" y="21907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We can show story problems in </a:t>
            </a: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many ways: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1524000" y="2990850"/>
            <a:ext cx="15811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Act it out with our bodies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Draw pictures or circles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Use objects or counters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Write or say the numbers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952500" y="952500"/>
            <a:ext cx="1638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Pick ONE Way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952500" y="21907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You decide how to show the story: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952500" y="29908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There are 10 puppets.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952500" y="37909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We put 5 puppets away.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952500" y="45910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How many puppets are left?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952500" y="952500"/>
            <a:ext cx="1638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Your Turn!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952500" y="21907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Show the story in the way that makes sense to you.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952500" y="51625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No wrong answers — show what you're thinking!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1524000" y="2990850"/>
            <a:ext cx="158115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You can draw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You can use objects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You can act it 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CE8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EF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952500" y="952500"/>
            <a:ext cx="1638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D97706"/>
                </a:solidFill>
                <a:latin typeface="Lato"/>
                <a:ea typeface="Lato"/>
                <a:cs typeface="Lato"/>
                <a:sym typeface="Lato"/>
              </a:rPr>
              <a:t>Share Your Thinking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952500" y="2190750"/>
            <a:ext cx="1638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When we share: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1524000" y="2990850"/>
            <a:ext cx="158115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Show what you did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Tell your partner or the class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Explain how you know your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2F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952500" y="952500"/>
            <a:ext cx="1638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BE123C"/>
              </a:buClr>
              <a:buSzPts val="4800"/>
              <a:buFont typeface="Lato"/>
              <a:buNone/>
            </a:pPr>
            <a:r>
              <a:rPr b="1" i="0" lang="en-US" sz="4800" u="none" cap="none" strike="noStrike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Key Words to Know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1524000" y="2190750"/>
            <a:ext cx="15811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Add to / Agregar: Put together or join more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Take away / Quitar: Remove or separate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Altogether / En total: All together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Lato"/>
              <a:buChar char="•"/>
            </a:pPr>
            <a:r>
              <a:rPr b="0" i="0" lang="en-US" sz="3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How many / Cuántos: The question we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4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4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952500" y="952500"/>
            <a:ext cx="16383000" cy="8382000"/>
          </a:xfrm>
          <a:prstGeom prst="roundRect">
            <a:avLst>
              <a:gd fmla="val 4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1562100" y="4152900"/>
            <a:ext cx="15163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1A472A"/>
              </a:buClr>
              <a:buSzPts val="6600"/>
              <a:buFont typeface="Lato"/>
              <a:buNone/>
            </a:pPr>
            <a:r>
              <a:rPr b="1" i="0" lang="en-US" sz="6600" u="none" cap="none" strike="noStrike">
                <a:solidFill>
                  <a:srgbClr val="1A472A"/>
                </a:solidFill>
                <a:latin typeface="Lato"/>
                <a:ea typeface="Lato"/>
                <a:cs typeface="Lato"/>
                <a:sym typeface="Lato"/>
              </a:rPr>
              <a:t>Let's Get Started!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1562100" y="5619750"/>
            <a:ext cx="1516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3150"/>
              <a:buFont typeface="Lato"/>
              <a:buNone/>
            </a:pPr>
            <a:r>
              <a:rPr b="1" i="0" lang="en-US" sz="3150" u="none" cap="none" strike="noStrike">
                <a:solidFill>
                  <a:srgbClr val="FFD700"/>
                </a:solidFill>
                <a:latin typeface="Lato"/>
                <a:ea typeface="Lato"/>
                <a:cs typeface="Lato"/>
                <a:sym typeface="Lato"/>
              </a:rPr>
              <a:t>Show Your Thinking 🏆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